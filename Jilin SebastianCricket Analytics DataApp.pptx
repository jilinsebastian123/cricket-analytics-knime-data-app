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5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1"/>
    <p:restoredTop sz="94658"/>
  </p:normalViewPr>
  <p:slideViewPr>
    <p:cSldViewPr snapToGrid="0">
      <p:cViewPr varScale="1">
        <p:scale>
          <a:sx n="120" d="100"/>
          <a:sy n="120" d="100"/>
        </p:scale>
        <p:origin x="1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2" d="100"/>
          <a:sy n="132" d="100"/>
        </p:scale>
        <p:origin x="483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8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C061E7-F136-47AF-82D0-861E271E95C4}" type="doc">
      <dgm:prSet loTypeId="urn:microsoft.com/office/officeart/2005/8/layout/vList2" loCatId="list" qsTypeId="urn:microsoft.com/office/officeart/2005/8/quickstyle/simple1#156" qsCatId="simple" csTypeId="urn:microsoft.com/office/officeart/2005/8/colors/colorful2#18" csCatId="colorful"/>
      <dgm:spPr/>
      <dgm:t>
        <a:bodyPr/>
        <a:lstStyle/>
        <a:p>
          <a:endParaRPr lang="en-US"/>
        </a:p>
      </dgm:t>
    </dgm:pt>
    <dgm:pt modelId="{E96ED4B3-8556-46BB-A2C1-88FC0259ACDE}">
      <dgm:prSet/>
      <dgm:spPr/>
      <dgm:t>
        <a:bodyPr/>
        <a:lstStyle/>
        <a:p>
          <a:r>
            <a:rPr lang="en-DE" b="1"/>
            <a:t>Data Ingestion:</a:t>
          </a:r>
          <a:endParaRPr lang="en-US"/>
        </a:p>
      </dgm:t>
    </dgm:pt>
    <dgm:pt modelId="{BD7FE80E-25B7-4A78-86CF-B511762D3D74}" type="parTrans" cxnId="{C5BCB6B5-7371-4CB9-8E21-38ABA83FB028}">
      <dgm:prSet/>
      <dgm:spPr/>
      <dgm:t>
        <a:bodyPr/>
        <a:lstStyle/>
        <a:p>
          <a:endParaRPr lang="en-US"/>
        </a:p>
      </dgm:t>
    </dgm:pt>
    <dgm:pt modelId="{D5DCCCF5-7337-411E-9440-245F9D758910}" type="sibTrans" cxnId="{C5BCB6B5-7371-4CB9-8E21-38ABA83FB028}">
      <dgm:prSet/>
      <dgm:spPr/>
      <dgm:t>
        <a:bodyPr/>
        <a:lstStyle/>
        <a:p>
          <a:endParaRPr lang="en-US"/>
        </a:p>
      </dgm:t>
    </dgm:pt>
    <dgm:pt modelId="{D49491AE-6B04-4237-AE75-CE3729347732}">
      <dgm:prSet/>
      <dgm:spPr/>
      <dgm:t>
        <a:bodyPr/>
        <a:lstStyle/>
        <a:p>
          <a:r>
            <a:rPr lang="en-DE"/>
            <a:t>Batting_Records.csv — Historical innings, averages, strike rates, 100s, and 50s.</a:t>
          </a:r>
          <a:endParaRPr lang="en-US"/>
        </a:p>
      </dgm:t>
    </dgm:pt>
    <dgm:pt modelId="{1FD8A157-5104-44D5-BC39-1135ADAFB0A3}" type="parTrans" cxnId="{517F34BD-89D3-4807-B76A-DC56405DA5CA}">
      <dgm:prSet/>
      <dgm:spPr/>
      <dgm:t>
        <a:bodyPr/>
        <a:lstStyle/>
        <a:p>
          <a:endParaRPr lang="en-US"/>
        </a:p>
      </dgm:t>
    </dgm:pt>
    <dgm:pt modelId="{66018780-AEE7-49A8-A134-A8DC03A954FD}" type="sibTrans" cxnId="{517F34BD-89D3-4807-B76A-DC56405DA5CA}">
      <dgm:prSet/>
      <dgm:spPr/>
      <dgm:t>
        <a:bodyPr/>
        <a:lstStyle/>
        <a:p>
          <a:endParaRPr lang="en-US"/>
        </a:p>
      </dgm:t>
    </dgm:pt>
    <dgm:pt modelId="{939333C3-AFB9-4648-A2BA-B493D195D63B}">
      <dgm:prSet/>
      <dgm:spPr/>
      <dgm:t>
        <a:bodyPr/>
        <a:lstStyle/>
        <a:p>
          <a:r>
            <a:rPr lang="en-DE"/>
            <a:t>Bowling_Records.csv — Career wickets, matches, averages, and economy rates.</a:t>
          </a:r>
          <a:endParaRPr lang="en-US"/>
        </a:p>
      </dgm:t>
    </dgm:pt>
    <dgm:pt modelId="{C195FD50-A1F8-404A-BDF3-E57F77334D28}" type="parTrans" cxnId="{7DAE2245-835D-4382-8A07-32EB5DE15A9C}">
      <dgm:prSet/>
      <dgm:spPr/>
      <dgm:t>
        <a:bodyPr/>
        <a:lstStyle/>
        <a:p>
          <a:endParaRPr lang="en-US"/>
        </a:p>
      </dgm:t>
    </dgm:pt>
    <dgm:pt modelId="{5D26B607-2FA2-44AA-9CF5-730991A37DE1}" type="sibTrans" cxnId="{7DAE2245-835D-4382-8A07-32EB5DE15A9C}">
      <dgm:prSet/>
      <dgm:spPr/>
      <dgm:t>
        <a:bodyPr/>
        <a:lstStyle/>
        <a:p>
          <a:endParaRPr lang="en-US"/>
        </a:p>
      </dgm:t>
    </dgm:pt>
    <dgm:pt modelId="{8FB47E7B-8D14-4502-87D7-4FF9247C6C42}">
      <dgm:prSet/>
      <dgm:spPr/>
      <dgm:t>
        <a:bodyPr/>
        <a:lstStyle/>
        <a:p>
          <a:r>
            <a:rPr lang="en-DE"/>
            <a:t>Series_Tournaments.csv — 2,052 match series from 1876 to the present.</a:t>
          </a:r>
          <a:endParaRPr lang="en-US"/>
        </a:p>
      </dgm:t>
    </dgm:pt>
    <dgm:pt modelId="{C40C82BE-B2C6-4134-87E8-C168199EF8C0}" type="parTrans" cxnId="{134294F8-D442-4030-86EE-9716CCBC81AE}">
      <dgm:prSet/>
      <dgm:spPr/>
      <dgm:t>
        <a:bodyPr/>
        <a:lstStyle/>
        <a:p>
          <a:endParaRPr lang="en-US"/>
        </a:p>
      </dgm:t>
    </dgm:pt>
    <dgm:pt modelId="{F50F676B-0029-43BE-A3A9-B315387E8BF7}" type="sibTrans" cxnId="{134294F8-D442-4030-86EE-9716CCBC81AE}">
      <dgm:prSet/>
      <dgm:spPr/>
      <dgm:t>
        <a:bodyPr/>
        <a:lstStyle/>
        <a:p>
          <a:endParaRPr lang="en-US"/>
        </a:p>
      </dgm:t>
    </dgm:pt>
    <dgm:pt modelId="{7E7EAB57-CDF1-4E79-B302-64326942FE69}">
      <dgm:prSet/>
      <dgm:spPr/>
      <dgm:t>
        <a:bodyPr/>
        <a:lstStyle/>
        <a:p>
          <a:r>
            <a:rPr lang="en-DE" b="1"/>
            <a:t>Core Transformations in KNIME:</a:t>
          </a:r>
          <a:endParaRPr lang="en-US"/>
        </a:p>
      </dgm:t>
    </dgm:pt>
    <dgm:pt modelId="{78FED306-C71A-4B6E-BA9F-1D2AFFAA5E7E}" type="parTrans" cxnId="{B43646EF-BB8E-4875-884A-A2C9A562A0B1}">
      <dgm:prSet/>
      <dgm:spPr/>
      <dgm:t>
        <a:bodyPr/>
        <a:lstStyle/>
        <a:p>
          <a:endParaRPr lang="en-US"/>
        </a:p>
      </dgm:t>
    </dgm:pt>
    <dgm:pt modelId="{718ADE61-6DBE-49D3-85A3-E8A0CB92D004}" type="sibTrans" cxnId="{B43646EF-BB8E-4875-884A-A2C9A562A0B1}">
      <dgm:prSet/>
      <dgm:spPr/>
      <dgm:t>
        <a:bodyPr/>
        <a:lstStyle/>
        <a:p>
          <a:endParaRPr lang="en-US"/>
        </a:p>
      </dgm:t>
    </dgm:pt>
    <dgm:pt modelId="{9741272E-9EC2-4121-B60E-8B8B60F6A378}">
      <dgm:prSet/>
      <dgm:spPr/>
      <dgm:t>
        <a:bodyPr/>
        <a:lstStyle/>
        <a:p>
          <a:r>
            <a:rPr lang="en-DE" b="1"/>
            <a:t>Nomenclature Standardization:</a:t>
          </a:r>
          <a:r>
            <a:rPr lang="en-DE"/>
            <a:t> Standardized legacy nation names and country codes for uniform joining.</a:t>
          </a:r>
          <a:endParaRPr lang="en-US"/>
        </a:p>
      </dgm:t>
    </dgm:pt>
    <dgm:pt modelId="{217899E7-9BE5-49DB-9E8F-B881A9A92EBB}" type="parTrans" cxnId="{5955E259-FDFD-4B56-849B-484BD8C70003}">
      <dgm:prSet/>
      <dgm:spPr/>
      <dgm:t>
        <a:bodyPr/>
        <a:lstStyle/>
        <a:p>
          <a:endParaRPr lang="en-US"/>
        </a:p>
      </dgm:t>
    </dgm:pt>
    <dgm:pt modelId="{2317785B-8DAA-456B-9582-CDA28F1C6EDE}" type="sibTrans" cxnId="{5955E259-FDFD-4B56-849B-484BD8C70003}">
      <dgm:prSet/>
      <dgm:spPr/>
      <dgm:t>
        <a:bodyPr/>
        <a:lstStyle/>
        <a:p>
          <a:endParaRPr lang="en-US"/>
        </a:p>
      </dgm:t>
    </dgm:pt>
    <dgm:pt modelId="{C1497284-9C8C-4AB5-BD2D-9F2BA1A883CB}">
      <dgm:prSet/>
      <dgm:spPr/>
      <dgm:t>
        <a:bodyPr/>
        <a:lstStyle/>
        <a:p>
          <a:r>
            <a:rPr lang="en-DE" b="1"/>
            <a:t>Type Conversions &amp; Cleaning:</a:t>
          </a:r>
          <a:r>
            <a:rPr lang="en-DE"/>
            <a:t> Converted formatted string metrics (Runs, Margin, Year) into numerical formats and handled null/missing outcomes.</a:t>
          </a:r>
          <a:endParaRPr lang="en-US"/>
        </a:p>
      </dgm:t>
    </dgm:pt>
    <dgm:pt modelId="{84BFF06D-C309-45D7-8788-5037AF3C6A14}" type="parTrans" cxnId="{C382ECF6-797B-47BE-A0CC-EFC0A56EEBB0}">
      <dgm:prSet/>
      <dgm:spPr/>
      <dgm:t>
        <a:bodyPr/>
        <a:lstStyle/>
        <a:p>
          <a:endParaRPr lang="en-US"/>
        </a:p>
      </dgm:t>
    </dgm:pt>
    <dgm:pt modelId="{BAB90DF6-ED53-42EE-928C-30F03C1EBEBD}" type="sibTrans" cxnId="{C382ECF6-797B-47BE-A0CC-EFC0A56EEBB0}">
      <dgm:prSet/>
      <dgm:spPr/>
      <dgm:t>
        <a:bodyPr/>
        <a:lstStyle/>
        <a:p>
          <a:endParaRPr lang="en-US"/>
        </a:p>
      </dgm:t>
    </dgm:pt>
    <dgm:pt modelId="{2ED2CB8E-E39D-433A-8D9E-E3DDE9A7A304}">
      <dgm:prSet/>
      <dgm:spPr/>
      <dgm:t>
        <a:bodyPr/>
        <a:lstStyle/>
        <a:p>
          <a:r>
            <a:rPr lang="en-DE" b="1"/>
            <a:t>Dynamic Domain Handling:</a:t>
          </a:r>
          <a:r>
            <a:rPr lang="en-DE"/>
            <a:t> Applied Domain Calculator nodes so downstream nominal widget twinlists populate dynamically without truncating historical values.</a:t>
          </a:r>
          <a:endParaRPr lang="en-US"/>
        </a:p>
      </dgm:t>
    </dgm:pt>
    <dgm:pt modelId="{AA4103E4-3EB1-4CFA-8D82-525B2D7FFDE6}" type="parTrans" cxnId="{03C777D4-E91B-4DB5-8A14-D983B7832ADC}">
      <dgm:prSet/>
      <dgm:spPr/>
      <dgm:t>
        <a:bodyPr/>
        <a:lstStyle/>
        <a:p>
          <a:endParaRPr lang="en-US"/>
        </a:p>
      </dgm:t>
    </dgm:pt>
    <dgm:pt modelId="{C5301391-CD11-4D30-8B7E-9E600A266A63}" type="sibTrans" cxnId="{03C777D4-E91B-4DB5-8A14-D983B7832ADC}">
      <dgm:prSet/>
      <dgm:spPr/>
      <dgm:t>
        <a:bodyPr/>
        <a:lstStyle/>
        <a:p>
          <a:endParaRPr lang="en-US"/>
        </a:p>
      </dgm:t>
    </dgm:pt>
    <dgm:pt modelId="{D9917F1A-A3D8-1645-AD09-0A436EDB13E1}" type="pres">
      <dgm:prSet presAssocID="{EFC061E7-F136-47AF-82D0-861E271E95C4}" presName="linear" presStyleCnt="0">
        <dgm:presLayoutVars>
          <dgm:animLvl val="lvl"/>
          <dgm:resizeHandles val="exact"/>
        </dgm:presLayoutVars>
      </dgm:prSet>
      <dgm:spPr/>
    </dgm:pt>
    <dgm:pt modelId="{097247A8-5577-BF44-9CBD-922D6062F872}" type="pres">
      <dgm:prSet presAssocID="{E96ED4B3-8556-46BB-A2C1-88FC0259ACD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E8AB277-A7A1-664B-A97D-EFF75CAC11C6}" type="pres">
      <dgm:prSet presAssocID="{E96ED4B3-8556-46BB-A2C1-88FC0259ACDE}" presName="childText" presStyleLbl="revTx" presStyleIdx="0" presStyleCnt="2">
        <dgm:presLayoutVars>
          <dgm:bulletEnabled val="1"/>
        </dgm:presLayoutVars>
      </dgm:prSet>
      <dgm:spPr/>
    </dgm:pt>
    <dgm:pt modelId="{0E4F7D6A-9E41-2049-9AC6-18FEA85DEE69}" type="pres">
      <dgm:prSet presAssocID="{7E7EAB57-CDF1-4E79-B302-64326942FE6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3D3211E-1A36-1E4B-8463-190618BE81FE}" type="pres">
      <dgm:prSet presAssocID="{7E7EAB57-CDF1-4E79-B302-64326942FE6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BF23709-6A42-7244-92E4-531004A0FEED}" type="presOf" srcId="{9741272E-9EC2-4121-B60E-8B8B60F6A378}" destId="{A3D3211E-1A36-1E4B-8463-190618BE81FE}" srcOrd="0" destOrd="0" presId="urn:microsoft.com/office/officeart/2005/8/layout/vList2"/>
    <dgm:cxn modelId="{C5033E09-F990-984C-9355-A09FB9CDE105}" type="presOf" srcId="{E96ED4B3-8556-46BB-A2C1-88FC0259ACDE}" destId="{097247A8-5577-BF44-9CBD-922D6062F872}" srcOrd="0" destOrd="0" presId="urn:microsoft.com/office/officeart/2005/8/layout/vList2"/>
    <dgm:cxn modelId="{209FEF2E-B5AC-EC49-8C7C-E43F1F10B79F}" type="presOf" srcId="{D49491AE-6B04-4237-AE75-CE3729347732}" destId="{6E8AB277-A7A1-664B-A97D-EFF75CAC11C6}" srcOrd="0" destOrd="0" presId="urn:microsoft.com/office/officeart/2005/8/layout/vList2"/>
    <dgm:cxn modelId="{7DAE2245-835D-4382-8A07-32EB5DE15A9C}" srcId="{E96ED4B3-8556-46BB-A2C1-88FC0259ACDE}" destId="{939333C3-AFB9-4648-A2BA-B493D195D63B}" srcOrd="1" destOrd="0" parTransId="{C195FD50-A1F8-404A-BDF3-E57F77334D28}" sibTransId="{5D26B607-2FA2-44AA-9CF5-730991A37DE1}"/>
    <dgm:cxn modelId="{8B008E59-C8A7-DB41-A66D-8F3DCC1C4B71}" type="presOf" srcId="{C1497284-9C8C-4AB5-BD2D-9F2BA1A883CB}" destId="{A3D3211E-1A36-1E4B-8463-190618BE81FE}" srcOrd="0" destOrd="1" presId="urn:microsoft.com/office/officeart/2005/8/layout/vList2"/>
    <dgm:cxn modelId="{5955E259-FDFD-4B56-849B-484BD8C70003}" srcId="{7E7EAB57-CDF1-4E79-B302-64326942FE69}" destId="{9741272E-9EC2-4121-B60E-8B8B60F6A378}" srcOrd="0" destOrd="0" parTransId="{217899E7-9BE5-49DB-9E8F-B881A9A92EBB}" sibTransId="{2317785B-8DAA-456B-9582-CDA28F1C6EDE}"/>
    <dgm:cxn modelId="{10A55075-0313-8942-80F9-6B51958EE35A}" type="presOf" srcId="{8FB47E7B-8D14-4502-87D7-4FF9247C6C42}" destId="{6E8AB277-A7A1-664B-A97D-EFF75CAC11C6}" srcOrd="0" destOrd="2" presId="urn:microsoft.com/office/officeart/2005/8/layout/vList2"/>
    <dgm:cxn modelId="{CC86D87D-AC58-B44A-8AC5-947899EB3E4C}" type="presOf" srcId="{EFC061E7-F136-47AF-82D0-861E271E95C4}" destId="{D9917F1A-A3D8-1645-AD09-0A436EDB13E1}" srcOrd="0" destOrd="0" presId="urn:microsoft.com/office/officeart/2005/8/layout/vList2"/>
    <dgm:cxn modelId="{203CF381-A37F-AF4E-8B3A-D8AA8A998AD0}" type="presOf" srcId="{939333C3-AFB9-4648-A2BA-B493D195D63B}" destId="{6E8AB277-A7A1-664B-A97D-EFF75CAC11C6}" srcOrd="0" destOrd="1" presId="urn:microsoft.com/office/officeart/2005/8/layout/vList2"/>
    <dgm:cxn modelId="{C5BCB6B5-7371-4CB9-8E21-38ABA83FB028}" srcId="{EFC061E7-F136-47AF-82D0-861E271E95C4}" destId="{E96ED4B3-8556-46BB-A2C1-88FC0259ACDE}" srcOrd="0" destOrd="0" parTransId="{BD7FE80E-25B7-4A78-86CF-B511762D3D74}" sibTransId="{D5DCCCF5-7337-411E-9440-245F9D758910}"/>
    <dgm:cxn modelId="{517F34BD-89D3-4807-B76A-DC56405DA5CA}" srcId="{E96ED4B3-8556-46BB-A2C1-88FC0259ACDE}" destId="{D49491AE-6B04-4237-AE75-CE3729347732}" srcOrd="0" destOrd="0" parTransId="{1FD8A157-5104-44D5-BC39-1135ADAFB0A3}" sibTransId="{66018780-AEE7-49A8-A134-A8DC03A954FD}"/>
    <dgm:cxn modelId="{03C777D4-E91B-4DB5-8A14-D983B7832ADC}" srcId="{7E7EAB57-CDF1-4E79-B302-64326942FE69}" destId="{2ED2CB8E-E39D-433A-8D9E-E3DDE9A7A304}" srcOrd="2" destOrd="0" parTransId="{AA4103E4-3EB1-4CFA-8D82-525B2D7FFDE6}" sibTransId="{C5301391-CD11-4D30-8B7E-9E600A266A63}"/>
    <dgm:cxn modelId="{5CA0A1E9-4667-9B41-A25A-54BE7E2D67AA}" type="presOf" srcId="{7E7EAB57-CDF1-4E79-B302-64326942FE69}" destId="{0E4F7D6A-9E41-2049-9AC6-18FEA85DEE69}" srcOrd="0" destOrd="0" presId="urn:microsoft.com/office/officeart/2005/8/layout/vList2"/>
    <dgm:cxn modelId="{B43646EF-BB8E-4875-884A-A2C9A562A0B1}" srcId="{EFC061E7-F136-47AF-82D0-861E271E95C4}" destId="{7E7EAB57-CDF1-4E79-B302-64326942FE69}" srcOrd="1" destOrd="0" parTransId="{78FED306-C71A-4B6E-BA9F-1D2AFFAA5E7E}" sibTransId="{718ADE61-6DBE-49D3-85A3-E8A0CB92D004}"/>
    <dgm:cxn modelId="{4BB4AAF6-2343-BB49-8D99-B3A23B9DBE95}" type="presOf" srcId="{2ED2CB8E-E39D-433A-8D9E-E3DDE9A7A304}" destId="{A3D3211E-1A36-1E4B-8463-190618BE81FE}" srcOrd="0" destOrd="2" presId="urn:microsoft.com/office/officeart/2005/8/layout/vList2"/>
    <dgm:cxn modelId="{C382ECF6-797B-47BE-A0CC-EFC0A56EEBB0}" srcId="{7E7EAB57-CDF1-4E79-B302-64326942FE69}" destId="{C1497284-9C8C-4AB5-BD2D-9F2BA1A883CB}" srcOrd="1" destOrd="0" parTransId="{84BFF06D-C309-45D7-8788-5037AF3C6A14}" sibTransId="{BAB90DF6-ED53-42EE-928C-30F03C1EBEBD}"/>
    <dgm:cxn modelId="{134294F8-D442-4030-86EE-9716CCBC81AE}" srcId="{E96ED4B3-8556-46BB-A2C1-88FC0259ACDE}" destId="{8FB47E7B-8D14-4502-87D7-4FF9247C6C42}" srcOrd="2" destOrd="0" parTransId="{C40C82BE-B2C6-4134-87E8-C168199EF8C0}" sibTransId="{F50F676B-0029-43BE-A3A9-B315387E8BF7}"/>
    <dgm:cxn modelId="{99EB0727-7C71-BD4F-89BF-6E752A04B2E9}" type="presParOf" srcId="{D9917F1A-A3D8-1645-AD09-0A436EDB13E1}" destId="{097247A8-5577-BF44-9CBD-922D6062F872}" srcOrd="0" destOrd="0" presId="urn:microsoft.com/office/officeart/2005/8/layout/vList2"/>
    <dgm:cxn modelId="{D2F90FE0-39EA-C741-91F5-1B3010EA3EAE}" type="presParOf" srcId="{D9917F1A-A3D8-1645-AD09-0A436EDB13E1}" destId="{6E8AB277-A7A1-664B-A97D-EFF75CAC11C6}" srcOrd="1" destOrd="0" presId="urn:microsoft.com/office/officeart/2005/8/layout/vList2"/>
    <dgm:cxn modelId="{A7C36CD9-9DAD-1F49-8BD3-A126605C8271}" type="presParOf" srcId="{D9917F1A-A3D8-1645-AD09-0A436EDB13E1}" destId="{0E4F7D6A-9E41-2049-9AC6-18FEA85DEE69}" srcOrd="2" destOrd="0" presId="urn:microsoft.com/office/officeart/2005/8/layout/vList2"/>
    <dgm:cxn modelId="{82BCA847-E520-9742-BB68-6F3923A83475}" type="presParOf" srcId="{D9917F1A-A3D8-1645-AD09-0A436EDB13E1}" destId="{A3D3211E-1A36-1E4B-8463-190618BE81F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247A8-5577-BF44-9CBD-922D6062F872}">
      <dsp:nvSpPr>
        <dsp:cNvPr id="0" name=""/>
        <dsp:cNvSpPr/>
      </dsp:nvSpPr>
      <dsp:spPr>
        <a:xfrm>
          <a:off x="0" y="75769"/>
          <a:ext cx="7216416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b="1" kern="1200"/>
            <a:t>Data Ingestion:</a:t>
          </a:r>
          <a:endParaRPr lang="en-US" sz="2300" kern="1200"/>
        </a:p>
      </dsp:txBody>
      <dsp:txXfrm>
        <a:off x="26930" y="102699"/>
        <a:ext cx="7162556" cy="497795"/>
      </dsp:txXfrm>
    </dsp:sp>
    <dsp:sp modelId="{6E8AB277-A7A1-664B-A97D-EFF75CAC11C6}">
      <dsp:nvSpPr>
        <dsp:cNvPr id="0" name=""/>
        <dsp:cNvSpPr/>
      </dsp:nvSpPr>
      <dsp:spPr>
        <a:xfrm>
          <a:off x="0" y="627425"/>
          <a:ext cx="7216416" cy="166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12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1800" kern="1200"/>
            <a:t>Batting_Records.csv — Historical innings, averages, strike rates, 100s, and 50s.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1800" kern="1200"/>
            <a:t>Bowling_Records.csv — Career wickets, matches, averages, and economy rates.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1800" kern="1200"/>
            <a:t>Series_Tournaments.csv — 2,052 match series from 1876 to the present.</a:t>
          </a:r>
          <a:endParaRPr lang="en-US" sz="1800" kern="1200"/>
        </a:p>
      </dsp:txBody>
      <dsp:txXfrm>
        <a:off x="0" y="627425"/>
        <a:ext cx="7216416" cy="1666350"/>
      </dsp:txXfrm>
    </dsp:sp>
    <dsp:sp modelId="{0E4F7D6A-9E41-2049-9AC6-18FEA85DEE69}">
      <dsp:nvSpPr>
        <dsp:cNvPr id="0" name=""/>
        <dsp:cNvSpPr/>
      </dsp:nvSpPr>
      <dsp:spPr>
        <a:xfrm>
          <a:off x="0" y="2293775"/>
          <a:ext cx="7216416" cy="551655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b="1" kern="1200"/>
            <a:t>Core Transformations in KNIME:</a:t>
          </a:r>
          <a:endParaRPr lang="en-US" sz="2300" kern="1200"/>
        </a:p>
      </dsp:txBody>
      <dsp:txXfrm>
        <a:off x="26930" y="2320705"/>
        <a:ext cx="7162556" cy="497795"/>
      </dsp:txXfrm>
    </dsp:sp>
    <dsp:sp modelId="{A3D3211E-1A36-1E4B-8463-190618BE81FE}">
      <dsp:nvSpPr>
        <dsp:cNvPr id="0" name=""/>
        <dsp:cNvSpPr/>
      </dsp:nvSpPr>
      <dsp:spPr>
        <a:xfrm>
          <a:off x="0" y="2845430"/>
          <a:ext cx="7216416" cy="2190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12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1800" b="1" kern="1200"/>
            <a:t>Nomenclature Standardization:</a:t>
          </a:r>
          <a:r>
            <a:rPr lang="en-DE" sz="1800" kern="1200"/>
            <a:t> Standardized legacy nation names and country codes for uniform joining.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1800" b="1" kern="1200"/>
            <a:t>Type Conversions &amp; Cleaning:</a:t>
          </a:r>
          <a:r>
            <a:rPr lang="en-DE" sz="1800" kern="1200"/>
            <a:t> Converted formatted string metrics (Runs, Margin, Year) into numerical formats and handled null/missing outcomes.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DE" sz="1800" b="1" kern="1200"/>
            <a:t>Dynamic Domain Handling:</a:t>
          </a:r>
          <a:r>
            <a:rPr lang="en-DE" sz="1800" kern="1200"/>
            <a:t> Applied Domain Calculator nodes so downstream nominal widget twinlists populate dynamically without truncating historical values.</a:t>
          </a:r>
          <a:endParaRPr lang="en-US" sz="1800" kern="1200"/>
        </a:p>
      </dsp:txBody>
      <dsp:txXfrm>
        <a:off x="0" y="2845430"/>
        <a:ext cx="7216416" cy="2190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5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C4484-CB5A-C140-BB66-9DDA936BCE45}" type="datetimeFigureOut">
              <a:rPr lang="en-DE" smtClean="0"/>
              <a:t>29.08.26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3F787-4DEB-8241-A3D8-534A9473232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840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6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8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97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7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7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5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6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3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2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14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33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A88BC-D669-A47D-A473-D5FD386E7E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640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302CCE-2174-9FE6-7793-E14029FA2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KNIME DATA APP ·</a:t>
            </a:r>
            <a:br>
              <a:rPr lang="en-US" sz="4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Cricket Analytics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3CF61-A2B2-3C56-62C0-5CF504860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</a:rPr>
              <a:t>A 150-Year Data Story of Players, Dominance &amp; Global Evolution (1876 – Present)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DE0FFF-C48D-BA98-F219-AAE6F8835E4D}"/>
              </a:ext>
            </a:extLst>
          </p:cNvPr>
          <p:cNvSpPr txBox="1"/>
          <p:nvPr/>
        </p:nvSpPr>
        <p:spPr>
          <a:xfrm>
            <a:off x="6398708" y="5505854"/>
            <a:ext cx="30986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DE" b="1" dirty="0"/>
              <a:t>Name:</a:t>
            </a:r>
            <a:r>
              <a:rPr lang="en-DE" dirty="0"/>
              <a:t> Jilin Sebastian</a:t>
            </a:r>
          </a:p>
          <a:p>
            <a:pPr lvl="0">
              <a:spcAft>
                <a:spcPts val="600"/>
              </a:spcAft>
            </a:pPr>
            <a:r>
              <a:rPr lang="en-DE" b="1" dirty="0"/>
              <a:t>Matriculation Number:</a:t>
            </a:r>
            <a:r>
              <a:rPr lang="en-DE" dirty="0"/>
              <a:t> 51711</a:t>
            </a:r>
          </a:p>
          <a:p>
            <a:pPr>
              <a:spcAft>
                <a:spcPts val="600"/>
              </a:spcAft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26025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86F42-1734-9451-DDE0-345F6E51F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169924"/>
            <a:ext cx="4306824" cy="1984094"/>
          </a:xfrm>
        </p:spPr>
        <p:txBody>
          <a:bodyPr anchor="b">
            <a:normAutofit/>
          </a:bodyPr>
          <a:lstStyle/>
          <a:p>
            <a:r>
              <a:rPr lang="en-DE" sz="3700"/>
              <a:t>Turning 150 Years of Cricket Data into an Interactive Story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67512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181AF464-2A5F-093C-4339-F809CD09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" b="2"/>
          <a:stretch>
            <a:fillRect/>
          </a:stretch>
        </p:blipFill>
        <p:spPr>
          <a:xfrm>
            <a:off x="20" y="703983"/>
            <a:ext cx="4946886" cy="3133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E577-DF1B-9C17-7D05-EC978052E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665018"/>
            <a:ext cx="5889161" cy="5632906"/>
          </a:xfrm>
        </p:spPr>
        <p:txBody>
          <a:bodyPr>
            <a:norm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DE" sz="1500" b="1" dirty="0"/>
              <a:t>Implementation Scope:</a:t>
            </a:r>
            <a:endParaRPr lang="en-DE" sz="1500" dirty="0"/>
          </a:p>
          <a:p>
            <a:pPr lvl="1">
              <a:lnSpc>
                <a:spcPct val="110000"/>
              </a:lnSpc>
            </a:pPr>
            <a:r>
              <a:rPr lang="en-DE" sz="1500" b="1" dirty="0"/>
              <a:t>Dataset Integration:</a:t>
            </a:r>
            <a:r>
              <a:rPr lang="en-DE" sz="1500" dirty="0"/>
              <a:t> Prepared and transformed multi-format historical datasets directly inside KNIME. </a:t>
            </a:r>
          </a:p>
          <a:p>
            <a:pPr lvl="1">
              <a:lnSpc>
                <a:spcPct val="110000"/>
              </a:lnSpc>
            </a:pPr>
            <a:r>
              <a:rPr lang="en-DE" sz="1500" b="1" dirty="0"/>
              <a:t>3 Dashboard Views:</a:t>
            </a:r>
            <a:r>
              <a:rPr lang="en-DE" sz="1500" dirty="0"/>
              <a:t> Structured distinct interactive views containing 2–4 linked visualizations each. </a:t>
            </a:r>
          </a:p>
          <a:p>
            <a:pPr lvl="1">
              <a:lnSpc>
                <a:spcPct val="110000"/>
              </a:lnSpc>
            </a:pPr>
            <a:r>
              <a:rPr lang="en-DE" sz="1500" b="1" dirty="0"/>
              <a:t>Dynamic Interactivity:</a:t>
            </a:r>
            <a:r>
              <a:rPr lang="en-DE" sz="1500" dirty="0"/>
              <a:t> Integrated widget-based filters (format selectors and country twinlists) for live exploration. </a:t>
            </a:r>
          </a:p>
          <a:p>
            <a:pPr lvl="1">
              <a:lnSpc>
                <a:spcPct val="110000"/>
              </a:lnSpc>
            </a:pPr>
            <a:r>
              <a:rPr lang="en-DE" sz="1500" b="1" dirty="0"/>
              <a:t>Portability:</a:t>
            </a:r>
            <a:r>
              <a:rPr lang="en-DE" sz="1500" dirty="0"/>
              <a:t> Configured relative workflow paths for seamless deployment across environments. 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DE" sz="1500" b="1" dirty="0"/>
              <a:t>The 4 Storylines Answered:</a:t>
            </a:r>
            <a:endParaRPr lang="en-DE" sz="1500" dirty="0"/>
          </a:p>
          <a:p>
            <a:pPr marL="265176" lvl="1" indent="0">
              <a:lnSpc>
                <a:spcPct val="110000"/>
              </a:lnSpc>
              <a:buNone/>
            </a:pPr>
            <a:r>
              <a:rPr lang="en-DE" sz="1500" b="1" dirty="0"/>
              <a:t>1. All-Time Run Supremacy:</a:t>
            </a:r>
            <a:r>
              <a:rPr lang="en-DE" sz="1500" dirty="0"/>
              <a:t> Who are the historic volume giants across 150 years of international cricket?</a:t>
            </a:r>
          </a:p>
          <a:p>
            <a:pPr marL="265176" lvl="1" indent="0">
              <a:lnSpc>
                <a:spcPct val="110000"/>
              </a:lnSpc>
              <a:buNone/>
            </a:pPr>
            <a:r>
              <a:rPr lang="en-DE" sz="1500" b="1" dirty="0"/>
              <a:t>2. Batting Evolution:</a:t>
            </a:r>
            <a:r>
              <a:rPr lang="en-DE" sz="1500" dirty="0"/>
              <a:t> How does modern strike-rate acceleration contrast with traditional batting averages?</a:t>
            </a:r>
          </a:p>
          <a:p>
            <a:pPr marL="265176" lvl="1" indent="0">
              <a:lnSpc>
                <a:spcPct val="110000"/>
              </a:lnSpc>
              <a:buNone/>
            </a:pPr>
            <a:r>
              <a:rPr lang="en-DE" sz="1500" b="1" dirty="0"/>
              <a:t>3. Bowling Mastery &amp; Standards:</a:t>
            </a:r>
            <a:r>
              <a:rPr lang="en-DE" sz="1500" dirty="0"/>
              <a:t> Which nations dominate wicket share, and how tight are global economy standards?</a:t>
            </a:r>
          </a:p>
          <a:p>
            <a:pPr marL="265176" lvl="1" indent="0">
              <a:lnSpc>
                <a:spcPct val="110000"/>
              </a:lnSpc>
              <a:buNone/>
            </a:pPr>
            <a:r>
              <a:rPr lang="en-DE" sz="1500" b="1" dirty="0"/>
              <a:t>4. Global Era Spikes:</a:t>
            </a:r>
            <a:r>
              <a:rPr lang="en-DE" sz="1500" dirty="0"/>
              <a:t> How did cricket transition from a 2-nation bilateral contest into an exponential global tournament phenomenon?</a:t>
            </a:r>
          </a:p>
          <a:p>
            <a:pPr>
              <a:lnSpc>
                <a:spcPct val="110000"/>
              </a:lnSpc>
            </a:pPr>
            <a:endParaRPr lang="en-DE" sz="1500" dirty="0"/>
          </a:p>
        </p:txBody>
      </p:sp>
    </p:spTree>
    <p:extLst>
      <p:ext uri="{BB962C8B-B14F-4D97-AF65-F5344CB8AC3E}">
        <p14:creationId xmlns:p14="http://schemas.microsoft.com/office/powerpoint/2010/main" val="345343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1C46E-6630-F72F-BD37-07871354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DE" sz="3600"/>
              <a:t>From Raw Match Logs to an Integrated Analytics Pipeline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0A56F3-AD21-3936-1254-0BF436B45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28711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057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3B62E-2918-0C31-7DBA-3AB811F92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DE"/>
              <a:t>Triple-Stream Data Pipeline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0E9CB0-8C19-9EFB-8085-B36B3EEA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836141"/>
            <a:ext cx="4194678" cy="337671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FA790-1086-1F41-87BC-058144B46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7622" y="914400"/>
                <a:ext cx="4763387" cy="5383523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DE" sz="1700"/>
                  <a:t>End-to-End Ingestion, Processing &amp; Component Encapsulation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/>
                  <a:t>Batting Stream (Top):</a:t>
                </a:r>
                <a:r>
                  <a:rPr lang="en-DE" sz="1700"/>
                  <a:t> String manipulation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type conversion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format filter widget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3 linked batting visualizations.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/>
                  <a:t>Bowling Stream (Middle):</a:t>
                </a:r>
                <a:r>
                  <a:rPr lang="en-DE" sz="1700"/>
                  <a:t> Missing value replacement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domain calculations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country selection widget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3 linked bowling charts.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/>
                  <a:t>Tournament Stream (Bottom):</a:t>
                </a:r>
                <a:r>
                  <a:rPr lang="en-DE" sz="1700"/>
                  <a:t> GroupBy aggregations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domain calculator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winner twinlist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/>
                  <a:t>3 timeline/victory charts + match log table.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/>
                  <a:t>Component Encapsulation:</a:t>
                </a:r>
                <a:r>
                  <a:rPr lang="en-DE" sz="1700"/>
                  <a:t> Wrapped into a single interactive layout delivering a unified dashboard view.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DE" sz="17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FA790-1086-1F41-87BC-058144B4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7622" y="914400"/>
                <a:ext cx="4763387" cy="5383523"/>
              </a:xfrm>
              <a:blipFill>
                <a:blip r:embed="rId3"/>
                <a:stretch>
                  <a:fillRect l="-796" t="-236" r="-26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94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064BA-6872-E3BC-4514-F5D0D906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DE"/>
              <a:t>Batting Dynamics &amp; Efficiency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6BEE5-E89B-637D-BA06-64AC79B05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68107"/>
            <a:ext cx="5648193" cy="1736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D35734-9922-0ECA-515F-215060451E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5150" y="2256287"/>
                <a:ext cx="4563618" cy="3760459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DE" sz="1700" dirty="0"/>
                  <a:t>Who commands run supremacy, and how do classical anchors contrast with modern aggressive hitters?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 dirty="0"/>
                  <a:t>Nodes:</a:t>
                </a:r>
                <a:r>
                  <a:rPr lang="en-DE" sz="1700" dirty="0"/>
                  <a:t> CSV Reader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 dirty="0"/>
                  <a:t>String Manipulation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 dirty="0"/>
                  <a:t>String to Number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 dirty="0"/>
                  <a:t>Math Formula </a:t>
                </a:r>
                <a14:m>
                  <m:oMath xmlns:m="http://schemas.openxmlformats.org/officeDocument/2006/math">
                    <m:r>
                      <a:rPr lang="en-DE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sz="1700" dirty="0"/>
                  <a:t>Nominal Row Filter Widgets.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 dirty="0"/>
                  <a:t>Interactive Filters:</a:t>
                </a:r>
                <a:r>
                  <a:rPr lang="en-DE" sz="1700" dirty="0"/>
                  <a:t> Match Format Selector (Test, ODI, T20) and Batsman Selection.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700" b="1" dirty="0"/>
                  <a:t>Linked Views:</a:t>
                </a:r>
                <a:r>
                  <a:rPr lang="en-DE" sz="1700" dirty="0"/>
                  <a:t> 3 visualizations linked dynamically to filter selections. </a:t>
                </a:r>
              </a:p>
              <a:p>
                <a:pPr>
                  <a:lnSpc>
                    <a:spcPct val="110000"/>
                  </a:lnSpc>
                </a:pPr>
                <a:endParaRPr lang="en-DE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D35734-9922-0ECA-515F-215060451E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5150" y="2256287"/>
                <a:ext cx="4563618" cy="3760459"/>
              </a:xfrm>
              <a:blipFill>
                <a:blip r:embed="rId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1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7285B-7CC2-A1D6-D64F-465842C84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599"/>
            <a:ext cx="10890928" cy="914400"/>
          </a:xfrm>
        </p:spPr>
        <p:txBody>
          <a:bodyPr anchor="t">
            <a:normAutofit/>
          </a:bodyPr>
          <a:lstStyle/>
          <a:p>
            <a:r>
              <a:rPr lang="en-DE" dirty="0"/>
              <a:t>Batting Dynamics: Volume, Milestones &amp; Speed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D399DC-C2A2-0C7F-F0B0-4A5341301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7C69A9A-80AF-8DEE-60E1-1940EB0D1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50" y="2609982"/>
            <a:ext cx="2308405" cy="1731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117049-A473-D72B-F27C-F835A7B25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581146"/>
            <a:ext cx="2308405" cy="1731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3C6E7-812F-8C0B-B066-9662353B8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502" y="2532887"/>
            <a:ext cx="3371602" cy="37650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0229-04E7-E6EF-9949-F29823F33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40" y="2532887"/>
            <a:ext cx="4581568" cy="3765023"/>
          </a:xfrm>
        </p:spPr>
        <p:txBody>
          <a:bodyPr anchor="t"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DE" sz="1500" b="1" dirty="0"/>
              <a:t>Peak Run Supremacy:</a:t>
            </a:r>
            <a:r>
              <a:rPr lang="en-DE" sz="1500" dirty="0"/>
              <a:t> All-time run leader commands an </a:t>
            </a:r>
            <a:r>
              <a:rPr lang="en-DE" sz="1500" b="1" dirty="0"/>
              <a:t>18,000+ run aggregate</a:t>
            </a:r>
            <a:r>
              <a:rPr lang="en-DE" sz="1500" dirty="0"/>
              <a:t>, with the primary elite cohort tightly grouped between 12,000 and 15,000 runs.</a:t>
            </a:r>
          </a:p>
          <a:p>
            <a:pPr lvl="1">
              <a:lnSpc>
                <a:spcPct val="110000"/>
              </a:lnSpc>
            </a:pPr>
            <a:r>
              <a:rPr lang="en-DE" sz="1500" b="1" dirty="0"/>
              <a:t>Milestone Outliers:</a:t>
            </a:r>
            <a:r>
              <a:rPr lang="en-DE" sz="1500" dirty="0"/>
              <a:t> Stacked area curve reveals an extreme outlier commanding </a:t>
            </a:r>
            <a:r>
              <a:rPr lang="en-DE" sz="1500" b="1" dirty="0"/>
              <a:t>250+ career milestones</a:t>
            </a:r>
            <a:r>
              <a:rPr lang="en-DE" sz="1500" dirty="0"/>
              <a:t> (50s &amp; 100s combined), demonstrating generational consistency.</a:t>
            </a:r>
          </a:p>
          <a:p>
            <a:pPr lvl="1">
              <a:lnSpc>
                <a:spcPct val="110000"/>
              </a:lnSpc>
            </a:pPr>
            <a:r>
              <a:rPr lang="en-DE" sz="1500" b="1" dirty="0"/>
              <a:t>Anchor vs. Striker Clustering:</a:t>
            </a:r>
            <a:r>
              <a:rPr lang="en-DE" sz="1500" dirty="0"/>
              <a:t> Scatter plot highlights distinct dual clusters—classical anchors maintaining </a:t>
            </a:r>
            <a:r>
              <a:rPr lang="en-DE" sz="1500" b="1" dirty="0"/>
              <a:t>40+ averages at moderate strike rates (50–80)</a:t>
            </a:r>
            <a:r>
              <a:rPr lang="en-DE" sz="1500" dirty="0"/>
              <a:t> versus modern boundary-hitters accelerating to </a:t>
            </a:r>
            <a:r>
              <a:rPr lang="en-DE" sz="1500" b="1" dirty="0"/>
              <a:t>120–150+ SR</a:t>
            </a:r>
            <a:r>
              <a:rPr lang="en-DE" sz="1500" dirty="0"/>
              <a:t>.</a:t>
            </a:r>
          </a:p>
          <a:p>
            <a:pPr>
              <a:lnSpc>
                <a:spcPct val="110000"/>
              </a:lnSpc>
            </a:pPr>
            <a:endParaRPr lang="en-DE" sz="1500" dirty="0"/>
          </a:p>
        </p:txBody>
      </p:sp>
    </p:spTree>
    <p:extLst>
      <p:ext uri="{BB962C8B-B14F-4D97-AF65-F5344CB8AC3E}">
        <p14:creationId xmlns:p14="http://schemas.microsoft.com/office/powerpoint/2010/main" val="3877850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320B8-A134-716A-6950-04A4BAFA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DE" dirty="0"/>
              <a:t>Bowling Mastery &amp;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2222F-6064-47B5-82F5-72B55934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95191"/>
            <a:ext cx="5648193" cy="1482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04CB9-5852-18E7-C074-CE38F546F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5150" y="2256287"/>
                <a:ext cx="4563618" cy="3760459"/>
              </a:xfrm>
            </p:spPr>
            <p:txBody>
              <a:bodyPr anchor="t"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DE" dirty="0"/>
                  <a:t>How is bowling dominance distributed globally, and how consistent are international efficiency standards?</a:t>
                </a:r>
              </a:p>
              <a:p>
                <a:pPr lvl="0"/>
                <a:r>
                  <a:rPr lang="en-DE" b="1" dirty="0"/>
                  <a:t>Nodes:</a:t>
                </a:r>
                <a:r>
                  <a:rPr lang="en-DE" dirty="0"/>
                  <a:t> CSV Reader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Missing Value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Domain Calculator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Country Filter Widget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GroupBy Aggregators.</a:t>
                </a:r>
              </a:p>
              <a:p>
                <a:pPr lvl="0"/>
                <a:r>
                  <a:rPr lang="en-DE" b="1" dirty="0"/>
                  <a:t>Interactive Filters:</a:t>
                </a:r>
                <a:r>
                  <a:rPr lang="en-DE" dirty="0"/>
                  <a:t> Country Multi-Selection Twinlist.</a:t>
                </a:r>
              </a:p>
              <a:p>
                <a:pPr lvl="0"/>
                <a:r>
                  <a:rPr lang="en-DE" b="1" dirty="0"/>
                  <a:t>Linked Views:</a:t>
                </a:r>
                <a:r>
                  <a:rPr lang="en-DE" dirty="0"/>
                  <a:t> Top Wickets Bar Chart, Country Wicket Share Donut, and Economy/Average Box Plot.</a:t>
                </a:r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04CB9-5852-18E7-C074-CE38F546F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5150" y="2256287"/>
                <a:ext cx="4563618" cy="3760459"/>
              </a:xfrm>
              <a:blipFill>
                <a:blip r:embed="rId3"/>
                <a:stretch>
                  <a:fillRect l="-1111" t="-6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99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A5B6E-1475-F5BF-D604-A1355626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930987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DE" sz="2200"/>
              <a:t>Bowling Mastery: Volume, Share &amp; Discipline</a:t>
            </a:r>
            <a:br>
              <a:rPr lang="en-DE" sz="2200"/>
            </a:br>
            <a:endParaRPr lang="en-DE" sz="2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D389-423C-170C-4ED9-88C49760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7"/>
            <a:ext cx="4930987" cy="4121882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DE" sz="1700" b="1"/>
              <a:t>All-Time Milestone:</a:t>
            </a:r>
            <a:r>
              <a:rPr lang="en-DE" sz="1700"/>
              <a:t> Peak wicket-takers surpass the historic </a:t>
            </a:r>
            <a:r>
              <a:rPr lang="en-DE" sz="1700" b="1"/>
              <a:t>800-wicket benchmark</a:t>
            </a:r>
            <a:r>
              <a:rPr lang="en-DE" sz="1700"/>
              <a:t>, reflecting decades of sustained strike capability.</a:t>
            </a:r>
          </a:p>
          <a:p>
            <a:pPr lvl="0">
              <a:lnSpc>
                <a:spcPct val="110000"/>
              </a:lnSpc>
            </a:pPr>
            <a:r>
              <a:rPr lang="en-DE" sz="1700" b="1"/>
              <a:t>Global Wicket Distribution:</a:t>
            </a:r>
            <a:r>
              <a:rPr lang="en-DE" sz="1700"/>
              <a:t> Wickets are evenly distributed among traditional cricket powerhouses (India, Australia, Pakistan, England, West Indies, Sri Lanka).</a:t>
            </a:r>
          </a:p>
          <a:p>
            <a:pPr lvl="0">
              <a:lnSpc>
                <a:spcPct val="110000"/>
              </a:lnSpc>
            </a:pPr>
            <a:r>
              <a:rPr lang="en-DE" sz="1700" b="1"/>
              <a:t>Rigid Economy Corridor:</a:t>
            </a:r>
            <a:r>
              <a:rPr lang="en-DE" sz="1700"/>
              <a:t> While bowling averages vary significantly across conditions (</a:t>
            </a:r>
            <a:r>
              <a:rPr lang="en-DE" sz="1700" b="1"/>
              <a:t>20 – 32 runs/wicket</a:t>
            </a:r>
            <a:r>
              <a:rPr lang="en-DE" sz="1700"/>
              <a:t>), elite economy rates remain strictly confined within a tight band of </a:t>
            </a:r>
            <a:r>
              <a:rPr lang="en-DE" sz="1700" b="1"/>
              <a:t>2.5 – 4.5 runs/over</a:t>
            </a:r>
            <a:r>
              <a:rPr lang="en-DE" sz="1700"/>
              <a:t>.</a:t>
            </a:r>
          </a:p>
          <a:p>
            <a:pPr>
              <a:lnSpc>
                <a:spcPct val="110000"/>
              </a:lnSpc>
            </a:pPr>
            <a:endParaRPr lang="en-DE" sz="1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BCC5FD-837B-97B6-9398-1340F7EB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51" r="8675" b="-1"/>
          <a:stretch>
            <a:fillRect/>
          </a:stretch>
        </p:blipFill>
        <p:spPr>
          <a:xfrm>
            <a:off x="6504100" y="914400"/>
            <a:ext cx="2932728" cy="26865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4CC2D4-54EE-E3FD-AB5F-B0B4109F96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033" b="5"/>
          <a:stretch>
            <a:fillRect/>
          </a:stretch>
        </p:blipFill>
        <p:spPr>
          <a:xfrm>
            <a:off x="6504101" y="3597454"/>
            <a:ext cx="2932727" cy="2674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BFFF0E-A0A1-80D3-6E0F-5FB7DFB472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9" r="21557" b="-1"/>
          <a:stretch>
            <a:fillRect/>
          </a:stretch>
        </p:blipFill>
        <p:spPr>
          <a:xfrm>
            <a:off x="9436231" y="914400"/>
            <a:ext cx="2755768" cy="26865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C80CD2-412B-DC6A-53B3-F541F8E67D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730" b="-2"/>
          <a:stretch>
            <a:fillRect/>
          </a:stretch>
        </p:blipFill>
        <p:spPr>
          <a:xfrm>
            <a:off x="9436231" y="3597932"/>
            <a:ext cx="2755768" cy="26748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505461" y="6272784"/>
            <a:ext cx="5681065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94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7D9FF-5712-17C9-5CBE-2A8E16A0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en-DE" sz="3600" dirty="0"/>
              <a:t>Tournament Intelligence &amp; History</a:t>
            </a:r>
            <a:endParaRPr lang="en-DE" sz="37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31029FD-8F8D-2674-7B6D-1375AC40F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35159"/>
            <a:ext cx="5648193" cy="1765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EE8BD-2DE0-BE25-F84C-85F16E15A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71063" y="2537460"/>
                <a:ext cx="4659945" cy="3760459"/>
              </a:xfrm>
            </p:spPr>
            <p:txBody>
              <a:bodyPr anchor="t"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DE" sz="1800" dirty="0"/>
                  <a:t>How did international cricket expand from 1876 to the present across series and  championships? </a:t>
                </a:r>
              </a:p>
              <a:p>
                <a:pPr lvl="0"/>
                <a:r>
                  <a:rPr lang="en-DE" b="1" dirty="0"/>
                  <a:t>Nodes:</a:t>
                </a:r>
                <a:r>
                  <a:rPr lang="en-DE" dirty="0"/>
                  <a:t> CSV Reader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GroupBy (Year)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Domain Calculator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Nominal Row Filter Widget (Winner Twinlist) </a:t>
                </a:r>
                <a14:m>
                  <m:oMath xmlns:m="http://schemas.openxmlformats.org/officeDocument/2006/math">
                    <m:r>
                      <a:rPr lang="en-DE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DE" dirty="0"/>
                  <a:t>3 Charts + Table View.</a:t>
                </a:r>
              </a:p>
              <a:p>
                <a:pPr lvl="0"/>
                <a:r>
                  <a:rPr lang="en-DE" b="1" dirty="0"/>
                  <a:t>Interactive Filters:</a:t>
                </a:r>
                <a:r>
                  <a:rPr lang="en-DE" dirty="0"/>
                  <a:t> Country / Winner Selection Twinlist.</a:t>
                </a:r>
              </a:p>
              <a:p>
                <a:pPr lvl="0"/>
                <a:r>
                  <a:rPr lang="en-DE" b="1" dirty="0"/>
                  <a:t>Linked Views:</a:t>
                </a:r>
                <a:r>
                  <a:rPr lang="en-DE" dirty="0"/>
                  <a:t> 3 linked charts (Bar Chart, Donut Chart, Timeline Line Plot) + interactive Table View match log.</a:t>
                </a:r>
              </a:p>
              <a:p>
                <a:pPr marL="0" indent="0">
                  <a:buNone/>
                </a:pPr>
                <a:endParaRPr lang="en-DE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EE8BD-2DE0-BE25-F84C-85F16E15A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71063" y="2537460"/>
                <a:ext cx="4659945" cy="3760459"/>
              </a:xfrm>
              <a:blipFill>
                <a:blip r:embed="rId3"/>
                <a:stretch>
                  <a:fillRect l="-271" r="-1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94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BB0A6-3879-DF03-010D-060BAFF9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19317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DE" sz="2500"/>
              <a:t>Tournament Trends: 150 Years of Global Expansion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F36BA04-2CA4-4727-91BA-40C378D14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9186-19BC-16A1-D803-1CDC9E3B6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6205"/>
            <a:ext cx="4193177" cy="3664452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DE" sz="1400" b="1"/>
              <a:t>Series Leadership:</a:t>
            </a:r>
            <a:r>
              <a:rPr lang="en-DE" sz="1400"/>
              <a:t> Dominated by Australia, England, and India (~200–250+ series titles each), with drawn series forming a large historical portion.</a:t>
            </a:r>
          </a:p>
          <a:p>
            <a:pPr lvl="0">
              <a:lnSpc>
                <a:spcPct val="110000"/>
              </a:lnSpc>
            </a:pPr>
            <a:r>
              <a:rPr lang="en-DE" sz="1400" b="1"/>
              <a:t>Victory Margins:</a:t>
            </a:r>
            <a:r>
              <a:rPr lang="en-DE" sz="1400"/>
              <a:t> Clean sweeps (2-0, 3-0) and close competitive finishes (2-1, 1-0) represent the most frequent series outcomes.</a:t>
            </a:r>
          </a:p>
          <a:p>
            <a:pPr lvl="0">
              <a:lnSpc>
                <a:spcPct val="110000"/>
              </a:lnSpc>
            </a:pPr>
            <a:r>
              <a:rPr lang="en-DE" sz="1400" b="1"/>
              <a:t>150-Year Timeline Spike:</a:t>
            </a:r>
            <a:r>
              <a:rPr lang="en-DE" sz="1400"/>
              <a:t> Series activity averaged under 10 per year until 1970, after which it surged exponentially to </a:t>
            </a:r>
            <a:r>
              <a:rPr lang="en-DE" sz="1400" b="1"/>
              <a:t>70+ series annually</a:t>
            </a:r>
            <a:r>
              <a:rPr lang="en-DE" sz="1400"/>
              <a:t> driven by multi-team white-ball tournaments.</a:t>
            </a:r>
          </a:p>
          <a:p>
            <a:pPr marL="0" indent="0">
              <a:lnSpc>
                <a:spcPct val="110000"/>
              </a:lnSpc>
              <a:buNone/>
            </a:pPr>
            <a:endParaRPr lang="en-DE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E22CDC-152A-3751-6E82-EC8A0A65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01" r="20814" b="1"/>
          <a:stretch>
            <a:fillRect/>
          </a:stretch>
        </p:blipFill>
        <p:spPr>
          <a:xfrm>
            <a:off x="5679448" y="-1"/>
            <a:ext cx="3256277" cy="3435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1B96A1-CBB2-836B-69C0-880677A48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8" r="11227" b="1"/>
          <a:stretch>
            <a:fillRect/>
          </a:stretch>
        </p:blipFill>
        <p:spPr>
          <a:xfrm>
            <a:off x="8935722" y="10"/>
            <a:ext cx="3256277" cy="3435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1BA589-2ABE-E9A0-CDCA-F061B18ED9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914" r="-2" b="14882"/>
          <a:stretch>
            <a:fillRect/>
          </a:stretch>
        </p:blipFill>
        <p:spPr>
          <a:xfrm>
            <a:off x="5679451" y="3429000"/>
            <a:ext cx="651254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2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8A4409-AE92-5825-913F-3964DBB7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169924"/>
            <a:ext cx="4306824" cy="1984094"/>
          </a:xfrm>
        </p:spPr>
        <p:txBody>
          <a:bodyPr anchor="b">
            <a:normAutofit/>
          </a:bodyPr>
          <a:lstStyle/>
          <a:p>
            <a:r>
              <a:rPr lang="en-DE"/>
              <a:t>The Cricket Story, in Four Numbers</a:t>
            </a:r>
            <a:br>
              <a:rPr lang="en-DE"/>
            </a:br>
            <a:endParaRPr lang="en-DE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67512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Cricket equipment">
            <a:extLst>
              <a:ext uri="{FF2B5EF4-FFF2-40B4-BE49-F238E27FC236}">
                <a16:creationId xmlns:a16="http://schemas.microsoft.com/office/drawing/2014/main" id="{10EC48CC-28DE-B995-E508-381D6385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3" r="-2" b="-2"/>
          <a:stretch>
            <a:fillRect/>
          </a:stretch>
        </p:blipFill>
        <p:spPr>
          <a:xfrm>
            <a:off x="20" y="703983"/>
            <a:ext cx="4946886" cy="3133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03A31-7BE8-0FD2-F7C2-61D93A961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41848" y="665018"/>
                <a:ext cx="5889161" cy="563290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DE" sz="1300" i="1" dirty="0"/>
                  <a:t>Key Statistical Benchmarks Across 150 Years of Multi-Format History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300" b="1" dirty="0"/>
                  <a:t>Card 1 :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Large Number (Bold, 36–40 pt, Teal/Navy):</a:t>
                </a:r>
                <a:r>
                  <a:rPr lang="en-DE" sz="1300" dirty="0"/>
                  <a:t> </a:t>
                </a:r>
                <a:r>
                  <a:rPr lang="en-DE" sz="1300" b="1" dirty="0"/>
                  <a:t>18,000+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Label / Narrative:</a:t>
                </a:r>
                <a:r>
                  <a:rPr lang="en-DE" sz="1300" dirty="0"/>
                  <a:t> </a:t>
                </a:r>
                <a:r>
                  <a:rPr lang="en-DE" sz="1300" b="1" dirty="0"/>
                  <a:t>Leading Career Runs</a:t>
                </a:r>
                <a:r>
                  <a:rPr lang="en-DE" sz="1300" dirty="0"/>
                  <a:t> — The all-time benchmark in international cricket, defining generational batting longevity.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300" b="1" dirty="0"/>
                  <a:t>Card 2 :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Large Number (Bold, 36–40 pt, Teal/Navy):</a:t>
                </a:r>
                <a:r>
                  <a:rPr lang="en-DE" sz="1300" dirty="0"/>
                  <a:t> </a:t>
                </a:r>
                <a:r>
                  <a:rPr lang="en-DE" sz="1300" b="1" dirty="0"/>
                  <a:t>800+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Label / Narrative:</a:t>
                </a:r>
                <a:r>
                  <a:rPr lang="en-DE" sz="1300" dirty="0"/>
                  <a:t> </a:t>
                </a:r>
                <a:r>
                  <a:rPr lang="en-DE" sz="1300" b="1" dirty="0"/>
                  <a:t>Historic Bowling Wickets</a:t>
                </a:r>
                <a:r>
                  <a:rPr lang="en-DE" sz="1300" dirty="0"/>
                  <a:t> — Elite career threshold achieved by all-time strike leaders across formats.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300" b="1" dirty="0"/>
                  <a:t>Card 3 :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Large Number (Bold, 36–40 pt, Teal/Navy):</a:t>
                </a:r>
                <a:r>
                  <a:rPr lang="en-DE" sz="1300" dirty="0"/>
                  <a:t> </a:t>
                </a:r>
                <a:r>
                  <a:rPr lang="en-DE" sz="1300" b="1" dirty="0"/>
                  <a:t>150 Years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Label / Narrative:</a:t>
                </a:r>
                <a:r>
                  <a:rPr lang="en-DE" sz="1300" dirty="0"/>
                  <a:t> </a:t>
                </a:r>
                <a:r>
                  <a:rPr lang="en-DE" sz="1300" b="1" dirty="0"/>
                  <a:t>Historical Depth</a:t>
                </a:r>
                <a:r>
                  <a:rPr lang="en-DE" sz="1300" dirty="0"/>
                  <a:t> — Comprehensive timeline coverage analyzing 2,052 official series from 1876 to the present.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DE" sz="1300" b="1" dirty="0"/>
                  <a:t>Card 4 :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Large Number (Bold, 36–40 pt, Teal/Navy):</a:t>
                </a:r>
                <a:r>
                  <a:rPr lang="en-DE" sz="1300" dirty="0"/>
                  <a:t> </a:t>
                </a:r>
                <a:r>
                  <a:rPr lang="en-DE" sz="1300" b="1" dirty="0"/>
                  <a:t>70+ / Year</a:t>
                </a:r>
                <a:endParaRPr lang="en-DE" sz="1300" dirty="0"/>
              </a:p>
              <a:p>
                <a:pPr lvl="1">
                  <a:lnSpc>
                    <a:spcPct val="110000"/>
                  </a:lnSpc>
                </a:pPr>
                <a:r>
                  <a:rPr lang="en-DE" sz="1300" b="1" dirty="0"/>
                  <a:t>Label / Narrative:</a:t>
                </a:r>
                <a:r>
                  <a:rPr lang="en-DE" sz="1300" dirty="0"/>
                  <a:t> </a:t>
                </a:r>
                <a:r>
                  <a:rPr lang="en-DE" sz="1300" b="1" dirty="0"/>
                  <a:t>Modern Era Series Peak</a:t>
                </a:r>
                <a:r>
                  <a:rPr lang="en-DE" sz="1300" dirty="0"/>
                  <a:t> — Exponential annual tournament growth post-1970 compared to </a:t>
                </a:r>
                <a14:m>
                  <m:oMath xmlns:m="http://schemas.openxmlformats.org/officeDocument/2006/math">
                    <m:r>
                      <a:rPr lang="en-DE" sz="1300">
                        <a:latin typeface="Cambria Math" panose="02040503050406030204" pitchFamily="18" charset="0"/>
                      </a:rPr>
                      <m:t>&lt;10</m:t>
                    </m:r>
                  </m:oMath>
                </a14:m>
                <a:r>
                  <a:rPr lang="en-DE" sz="1300" dirty="0"/>
                  <a:t>series per year pre-1970.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DE" sz="1300" i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DE" sz="1300" dirty="0"/>
              </a:p>
              <a:p>
                <a:pPr>
                  <a:lnSpc>
                    <a:spcPct val="110000"/>
                  </a:lnSpc>
                </a:pPr>
                <a:endParaRPr lang="en-DE" sz="1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03A31-7BE8-0FD2-F7C2-61D93A961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41848" y="665018"/>
                <a:ext cx="5889161" cy="5632906"/>
              </a:xfrm>
              <a:blipFill>
                <a:blip r:embed="rId3"/>
                <a:stretch>
                  <a:fillRect l="-2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15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2B555-20A4-6DC2-62C8-CA97EEF9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r>
              <a:rPr lang="en-DE" sz="3600"/>
              <a:t>What This KNIME Data App Delivers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C2998BA-BF63-3689-85F0-8F8CFA38E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670" y="1014984"/>
            <a:ext cx="7029274" cy="5314686"/>
          </a:xfrm>
        </p:spPr>
        <p:txBody>
          <a:bodyPr>
            <a:norm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DE" sz="1700" b="1"/>
              <a:t>Dashboard &amp; Visualization Scope</a:t>
            </a:r>
            <a:endParaRPr lang="en-DE" sz="1700"/>
          </a:p>
          <a:p>
            <a:pPr lvl="1">
              <a:lnSpc>
                <a:spcPct val="110000"/>
              </a:lnSpc>
            </a:pPr>
            <a:r>
              <a:rPr lang="en-DE" sz="1700" b="1"/>
              <a:t>3 Dedicated Interactive Views:</a:t>
            </a:r>
            <a:r>
              <a:rPr lang="en-DE" sz="1700"/>
              <a:t> Batting Dynamics, Bowling Mastery, and Tournament Intelligence. </a:t>
            </a:r>
          </a:p>
          <a:p>
            <a:pPr lvl="1">
              <a:lnSpc>
                <a:spcPct val="110000"/>
              </a:lnSpc>
            </a:pPr>
            <a:r>
              <a:rPr lang="en-DE" sz="1700" b="1"/>
              <a:t>9 Visualizations Total:</a:t>
            </a:r>
            <a:r>
              <a:rPr lang="en-DE" sz="1700"/>
              <a:t> Bar charts, scatter plots, stacked area graphs, donut charts, box plots, line timeline, and an interactive match table. </a:t>
            </a:r>
          </a:p>
          <a:p>
            <a:pPr marL="265176" lvl="1" indent="0">
              <a:lnSpc>
                <a:spcPct val="110000"/>
              </a:lnSpc>
              <a:buNone/>
            </a:pPr>
            <a:r>
              <a:rPr lang="en-DE" sz="1700"/>
              <a:t>•    </a:t>
            </a:r>
            <a:r>
              <a:rPr lang="en-DE" sz="1700" b="1"/>
              <a:t>Dynamic Filter Controls:</a:t>
            </a:r>
            <a:r>
              <a:rPr lang="en-DE" sz="1700"/>
              <a:t> Match format toggles and country selection twinlists driven by automated domain calculations. 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DE" sz="1700" b="1"/>
              <a:t>Architecture &amp; Submission Artifacts</a:t>
            </a:r>
            <a:endParaRPr lang="en-DE" sz="1700"/>
          </a:p>
          <a:p>
            <a:pPr lvl="1">
              <a:lnSpc>
                <a:spcPct val="110000"/>
              </a:lnSpc>
            </a:pPr>
            <a:r>
              <a:rPr lang="en-DE" sz="1700" b="1"/>
              <a:t>End-to-End Pipeline:</a:t>
            </a:r>
            <a:r>
              <a:rPr lang="en-DE" sz="1700"/>
              <a:t> Clean data lineage from 3 raw CSV streams to clean, deduplicated, and aggregated analytical components. </a:t>
            </a:r>
          </a:p>
          <a:p>
            <a:pPr lvl="1">
              <a:lnSpc>
                <a:spcPct val="110000"/>
              </a:lnSpc>
            </a:pPr>
            <a:r>
              <a:rPr lang="en-DE" sz="1700" b="1"/>
              <a:t>Portable Deployment:</a:t>
            </a:r>
            <a:r>
              <a:rPr lang="en-DE" sz="1700"/>
              <a:t> All file readers configured with workflow-relative paths for seamless execution across machines. </a:t>
            </a:r>
          </a:p>
          <a:p>
            <a:pPr lvl="1">
              <a:lnSpc>
                <a:spcPct val="110000"/>
              </a:lnSpc>
            </a:pPr>
            <a:r>
              <a:rPr lang="en-DE" sz="1700" b="1"/>
              <a:t>Complete Submission Package:</a:t>
            </a:r>
            <a:r>
              <a:rPr lang="en-DE" sz="1700"/>
              <a:t> Exported .knar workflow bundle with embedded data alongside this documentation deck. </a:t>
            </a:r>
          </a:p>
          <a:p>
            <a:pPr marL="265176" lvl="1" indent="0">
              <a:lnSpc>
                <a:spcPct val="110000"/>
              </a:lnSpc>
              <a:buNone/>
            </a:pPr>
            <a:endParaRPr lang="en-DE" sz="1700"/>
          </a:p>
          <a:p>
            <a:pPr>
              <a:lnSpc>
                <a:spcPct val="110000"/>
              </a:lnSpc>
            </a:pPr>
            <a:endParaRPr lang="en-DE" sz="1700"/>
          </a:p>
        </p:txBody>
      </p:sp>
    </p:spTree>
    <p:extLst>
      <p:ext uri="{BB962C8B-B14F-4D97-AF65-F5344CB8AC3E}">
        <p14:creationId xmlns:p14="http://schemas.microsoft.com/office/powerpoint/2010/main" val="172924285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1190</Words>
  <Application>Microsoft Macintosh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Bierstadt</vt:lpstr>
      <vt:lpstr>Cambria Math</vt:lpstr>
      <vt:lpstr>Grandview Display</vt:lpstr>
      <vt:lpstr>DashVTI</vt:lpstr>
      <vt:lpstr>KNIME DATA APP · Cricket Analytics Hub</vt:lpstr>
      <vt:lpstr>Turning 150 Years of Cricket Data into an Interactive Story</vt:lpstr>
      <vt:lpstr>From Raw Match Logs to an Integrated Analytics Pipeline</vt:lpstr>
      <vt:lpstr>Triple-Stream Data Pipeline Architecture</vt:lpstr>
      <vt:lpstr>Batting Dynamics &amp; Efficiency</vt:lpstr>
      <vt:lpstr>Batting Dynamics: Volume, Milestones &amp; Speed</vt:lpstr>
      <vt:lpstr>Bowling Mastery &amp; Distribution</vt:lpstr>
      <vt:lpstr>Bowling Mastery: Volume, Share &amp; Discipline </vt:lpstr>
      <vt:lpstr>Tournament Intelligence &amp; History</vt:lpstr>
      <vt:lpstr>Tournament Trends: 150 Years of Global Expansion</vt:lpstr>
      <vt:lpstr>The Cricket Story, in Four Numbers </vt:lpstr>
      <vt:lpstr>What This KNIME Data App Delivers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Jilin.Sebastian.nka</dc:creator>
  <cp:lastModifiedBy>Jilin.Sebastian.nka</cp:lastModifiedBy>
  <cp:revision>5</cp:revision>
  <dcterms:created xsi:type="dcterms:W3CDTF">2026-08-27T08:22:58Z</dcterms:created>
  <dcterms:modified xsi:type="dcterms:W3CDTF">2026-08-29T16:21:29Z</dcterms:modified>
</cp:coreProperties>
</file>